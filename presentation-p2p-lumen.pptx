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€/yr</c:v>
                </c:pt>
              </c:strCache>
            </c:strRef>
          </c:tx>
          <c:spPr>
            <a:solidFill>
              <a:srgbClr val="8C1C2B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C73B-4F65-96B2-DFD0D92D4BFD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C73B-4F65-96B2-DFD0D92D4BFD}"/>
              </c:ext>
            </c:extLst>
          </c:dPt>
          <c:dPt>
            <c:idx val="2"/>
            <c:invertIfNegative val="0"/>
            <c:bubble3D val="0"/>
            <c:spPr>
              <a:solidFill>
                <a:srgbClr val="A8884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C73B-4F65-96B2-DFD0D92D4BFD}"/>
              </c:ext>
            </c:extLst>
          </c:dPt>
          <c:dPt>
            <c:idx val="3"/>
            <c:invertIfNegative val="0"/>
            <c:bubble3D val="0"/>
            <c:spPr>
              <a:solidFill>
                <a:srgbClr val="A8884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C73B-4F65-96B2-DFD0D92D4BFD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9-C73B-4F65-96B2-DFD0D92D4BFD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2B2B2B"/>
                    </a:solidFill>
                    <a:latin typeface="Arial"/>
                  </a:defRPr>
                </a:pPr>
                <a:endParaRPr lang="en-DE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AP time</c:v>
                </c:pt>
                <c:pt idx="1">
                  <c:v>Match time</c:v>
                </c:pt>
                <c:pt idx="2">
                  <c:v>Match cash</c:v>
                </c:pt>
                <c:pt idx="3">
                  <c:v>Stock waste</c:v>
                </c:pt>
                <c:pt idx="4">
                  <c:v>Stock entry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42000</c:v>
                </c:pt>
                <c:pt idx="1">
                  <c:v>26000</c:v>
                </c:pt>
                <c:pt idx="2">
                  <c:v>10000</c:v>
                </c:pt>
                <c:pt idx="3">
                  <c:v>9000</c:v>
                </c:pt>
                <c:pt idx="4">
                  <c:v>19500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C73B-4F65-96B2-DFD0D92D4BF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0696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268452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Panel: CEO, Legal/Compliance, CTO, Operations. 30s hook. Independent luxury hotels are squeezed on margin and on talent — and a quiet manual cost, accounts payable, sits on the smallest team. This tool removes that grind with AI, a human on every decision.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vivid example (3 hrs/day). For the CEO: margin + retention at once. Numbers are cited industry benchmarks, directional.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the CTO: it's an LLM doing document extraction, not a black box deciding. The human-approve box (highlighted) is the control. Diagram left to right is the whole product.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Switch to the live app. ~2 min: one capture, one match with a discrepancy, the dispute e-mail, one CSV export. Synthetic invoices only. If it fails: play the backup recording.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the CEO: breakeven year 1 on the cautious AP scope; full tool ~€93.5k net/yr. Honesty: validated in pilot. ROI 3-yr ≈ 88% (AP) — don't read all numbers, point to the chart.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Ops + Legal. Don't read the matrix — call the three 12-scores. The mitigation column is the message: every risk has a control. Full 9-risk matrix is in roi_risk_assessment (.md + .xlsx).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Legal Officer's slide. Lead with the reasoning, not the label: WHY limited-risk (no decisions about natural persons). GDPR honest: works once DPAs + transfers handled; EU-model option de-risks further.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Ops. Pilot to full to scale; the gate is falsifiable. Commercialisation: productised vertical service, not custom consulting. Pricing anchored to the €42k+ savings.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Optional MVP moment. The POC matured into the deployed MVP — the stretch. Show the live app briefly if time allows.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call to action. Q&amp;A prep: (1) classification reasoning — no decisions about people, so limited risk; (2) ROI €42k = ~5,040 inv times ~€8 saved, validated in pilot; (3) wrong AI output — human reviews, human liable; (4) deletion request — erasure across store/mailbox/traces; (5) why not an existing tool — vertical, EU-compliant, lean-team fit; (6) main weakness — accuracy on edge-case scans plus reliance on US sub-processors, both mitigated; (7) what I'd do differently — EU-native model from day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5A10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-1005840"/>
            <a:ext cx="2468880" cy="2468880"/>
          </a:xfrm>
          <a:prstGeom prst="ellipse">
            <a:avLst/>
          </a:prstGeom>
          <a:solidFill>
            <a:srgbClr val="A8884F">
              <a:alpha val="22000"/>
            </a:srgbClr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3" name="Shape 1"/>
          <p:cNvSpPr/>
          <p:nvPr/>
        </p:nvSpPr>
        <p:spPr>
          <a:xfrm>
            <a:off x="-914400" y="3931920"/>
            <a:ext cx="2286000" cy="2286000"/>
          </a:xfrm>
          <a:prstGeom prst="ellipse">
            <a:avLst/>
          </a:prstGeom>
          <a:solidFill>
            <a:srgbClr val="A8884F">
              <a:alpha val="18000"/>
            </a:srgbClr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A88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IRONHACK · AI CONSULTING &amp; INTEGRATION — FINAL PROJECT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03504" y="13716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Maison Lumière — “Lumen”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640080" y="2423160"/>
            <a:ext cx="7955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E9D9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AI-Assisted Accounts-Payable &amp; Inventory Automation · Luxury Hospitality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32461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A888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“AI reads, humans decide.”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4389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8C5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Thibaud Delaye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A88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6000"/>
              </a:lnSpc>
              <a:buNone/>
            </a:pPr>
            <a:r>
              <a:rPr lang="en-US" sz="3300" b="1" dirty="0">
                <a:solidFill>
                  <a:srgbClr val="8C1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lean finance team, drowning in invoices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457200" y="16276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8C1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Maison Lumière runs lean. </a:t>
            </a:r>
            <a:r>
              <a:rPr lang="en-US" sz="21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accountant spends 3 hours a day keying supplier invoices by hand.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457200" y="2468880"/>
            <a:ext cx="2679192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7DCD6"/>
            </a:solidFill>
            <a:prstDash val="solid"/>
          </a:ln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6" name="Text 4"/>
          <p:cNvSpPr/>
          <p:nvPr/>
        </p:nvSpPr>
        <p:spPr>
          <a:xfrm>
            <a:off x="594360" y="2615184"/>
            <a:ext cx="240487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8C1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33%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612648" y="3310128"/>
            <a:ext cx="2368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500" dirty="0">
                <a:solidFill>
                  <a:srgbClr val="706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Hotel margin — and falling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236976" y="2468880"/>
            <a:ext cx="2679192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7DCD6"/>
            </a:solidFill>
            <a:prstDash val="solid"/>
          </a:ln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9" name="Text 7"/>
          <p:cNvSpPr/>
          <p:nvPr/>
        </p:nvSpPr>
        <p:spPr>
          <a:xfrm>
            <a:off x="3374136" y="2615184"/>
            <a:ext cx="240487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8C1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70–80%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3392424" y="3310128"/>
            <a:ext cx="2368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500" dirty="0">
                <a:solidFill>
                  <a:srgbClr val="706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Staff turnover / year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007608" y="2468880"/>
            <a:ext cx="2679192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7DCD6"/>
            </a:solidFill>
            <a:prstDash val="solid"/>
          </a:ln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12" name="Text 10"/>
          <p:cNvSpPr/>
          <p:nvPr/>
        </p:nvSpPr>
        <p:spPr>
          <a:xfrm>
            <a:off x="6144768" y="2615184"/>
            <a:ext cx="240487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8C1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€12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6163056" y="3310128"/>
            <a:ext cx="2368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500" dirty="0">
                <a:solidFill>
                  <a:srgbClr val="706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invoice, by hand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57200" y="4069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800" i="1" dirty="0">
                <a:solidFill>
                  <a:srgbClr val="706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Cutting the team to save money backfires — it worsens the turnover. The lever is to make their time go further.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57200" y="484632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06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Maison Lumière · P2P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8412480" y="4846320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06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A88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6000"/>
              </a:lnSpc>
              <a:buNone/>
            </a:pPr>
            <a:r>
              <a:rPr lang="en-US" sz="3300" b="1" dirty="0">
                <a:solidFill>
                  <a:srgbClr val="8C1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reads each invoice; a human approves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AI assistant captures, reads and codes every supplier invoice — and proposes the accounting entry for a person to approve.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2331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8C1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Capability:  </a:t>
            </a:r>
            <a:r>
              <a:rPr lang="en-US" sz="1500" dirty="0">
                <a:solidFill>
                  <a:srgbClr val="706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understanding (generative AI) + workflow automation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2926080"/>
            <a:ext cx="1481328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5240">
            <a:solidFill>
              <a:srgbClr val="E7DCD6"/>
            </a:solidFill>
            <a:prstDash val="solid"/>
          </a:ln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7" name="Text 5"/>
          <p:cNvSpPr/>
          <p:nvPr/>
        </p:nvSpPr>
        <p:spPr>
          <a:xfrm>
            <a:off x="457200" y="3108960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8C1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Invoice in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457200" y="3502152"/>
            <a:ext cx="1481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706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e-mail / upload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1920240" y="2926080"/>
            <a:ext cx="21488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A88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2153412" y="2926080"/>
            <a:ext cx="1481328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5240">
            <a:solidFill>
              <a:srgbClr val="E7DCD6"/>
            </a:solidFill>
            <a:prstDash val="solid"/>
          </a:ln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11" name="Text 9"/>
          <p:cNvSpPr/>
          <p:nvPr/>
        </p:nvSpPr>
        <p:spPr>
          <a:xfrm>
            <a:off x="2153412" y="3108960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8C1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reads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2153412" y="3502152"/>
            <a:ext cx="1481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706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extracts data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616452" y="2926080"/>
            <a:ext cx="21488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A88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600" dirty="0"/>
          </a:p>
        </p:txBody>
      </p:sp>
      <p:sp>
        <p:nvSpPr>
          <p:cNvPr id="14" name="Shape 12"/>
          <p:cNvSpPr/>
          <p:nvPr/>
        </p:nvSpPr>
        <p:spPr>
          <a:xfrm>
            <a:off x="3849624" y="2926080"/>
            <a:ext cx="1481328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5240">
            <a:solidFill>
              <a:srgbClr val="E7DCD6"/>
            </a:solidFill>
            <a:prstDash val="solid"/>
          </a:ln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15" name="Text 13"/>
          <p:cNvSpPr/>
          <p:nvPr/>
        </p:nvSpPr>
        <p:spPr>
          <a:xfrm>
            <a:off x="3849624" y="3108960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8C1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Proposes entry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3849624" y="3502152"/>
            <a:ext cx="1481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706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+ 3-way match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312664" y="2926080"/>
            <a:ext cx="21488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A88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600" dirty="0"/>
          </a:p>
        </p:txBody>
      </p:sp>
      <p:sp>
        <p:nvSpPr>
          <p:cNvPr id="18" name="Shape 16"/>
          <p:cNvSpPr/>
          <p:nvPr/>
        </p:nvSpPr>
        <p:spPr>
          <a:xfrm>
            <a:off x="5545836" y="2926080"/>
            <a:ext cx="1481328" cy="1051560"/>
          </a:xfrm>
          <a:prstGeom prst="roundRect">
            <a:avLst>
              <a:gd name="adj" fmla="val 6957"/>
            </a:avLst>
          </a:prstGeom>
          <a:solidFill>
            <a:srgbClr val="8C1C2B"/>
          </a:solidFill>
          <a:ln w="15240">
            <a:solidFill>
              <a:srgbClr val="8C1C2B"/>
            </a:solidFill>
            <a:prstDash val="solid"/>
          </a:ln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19" name="Text 17"/>
          <p:cNvSpPr/>
          <p:nvPr/>
        </p:nvSpPr>
        <p:spPr>
          <a:xfrm>
            <a:off x="5545836" y="3108960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Human reviews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5545836" y="3502152"/>
            <a:ext cx="1481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4E7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edits / approves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7008876" y="2926080"/>
            <a:ext cx="21488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A88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600" dirty="0"/>
          </a:p>
        </p:txBody>
      </p:sp>
      <p:sp>
        <p:nvSpPr>
          <p:cNvPr id="22" name="Shape 20"/>
          <p:cNvSpPr/>
          <p:nvPr/>
        </p:nvSpPr>
        <p:spPr>
          <a:xfrm>
            <a:off x="7242048" y="2926080"/>
            <a:ext cx="1481328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5240">
            <a:solidFill>
              <a:srgbClr val="E7DCD6"/>
            </a:solidFill>
            <a:prstDash val="solid"/>
          </a:ln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23" name="Text 21"/>
          <p:cNvSpPr/>
          <p:nvPr/>
        </p:nvSpPr>
        <p:spPr>
          <a:xfrm>
            <a:off x="7242048" y="3108960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8C1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Posted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7242048" y="3502152"/>
            <a:ext cx="1481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706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 dispute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57200" y="422452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706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Nothing is posted, paid or sent without a person — “AI reads, humans decide.”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457200" y="484632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06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Maison Lumière · P2P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8412480" y="4846320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06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5A10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55280" y="3383280"/>
            <a:ext cx="2377440" cy="2377440"/>
          </a:xfrm>
          <a:prstGeom prst="ellipse">
            <a:avLst/>
          </a:prstGeom>
          <a:solidFill>
            <a:srgbClr val="A8884F">
              <a:alpha val="20000"/>
            </a:srgbClr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A88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03504" y="13258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See it run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77240" y="2331720"/>
            <a:ext cx="7589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2100" dirty="0">
                <a:solidFill>
                  <a:srgbClr val="EAD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Drop an invoice → the entry appears</a:t>
            </a:r>
            <a:endParaRPr lang="en-US" sz="2100" dirty="0"/>
          </a:p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2100" dirty="0">
                <a:solidFill>
                  <a:srgbClr val="EAD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match flags the € overbilled before payment</a:t>
            </a:r>
            <a:endParaRPr lang="en-US" sz="2100" dirty="0"/>
          </a:p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2100" dirty="0">
                <a:solidFill>
                  <a:srgbClr val="EAD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 the dispute · export the journal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640080" y="4389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88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p2p-inventory-production.up.railway.app   ·   (backup recording ready)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A88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CASE · ROI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6000"/>
              </a:lnSpc>
              <a:buNone/>
            </a:pPr>
            <a:r>
              <a:rPr lang="en-US" sz="3300" b="1" dirty="0">
                <a:solidFill>
                  <a:srgbClr val="8C1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Breakeven in year 1 — on the AP scope alone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2679192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7DCD6"/>
            </a:solidFill>
            <a:prstDash val="solid"/>
          </a:ln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5" name="Text 3"/>
          <p:cNvSpPr/>
          <p:nvPr/>
        </p:nvSpPr>
        <p:spPr>
          <a:xfrm>
            <a:off x="594360" y="1792224"/>
            <a:ext cx="240487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8C1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€42k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612648" y="2487168"/>
            <a:ext cx="2368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500" dirty="0">
                <a:solidFill>
                  <a:srgbClr val="706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Saved / year (AP scope)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236976" y="1645920"/>
            <a:ext cx="2679192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7DCD6"/>
            </a:solidFill>
            <a:prstDash val="solid"/>
          </a:ln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8" name="Text 6"/>
          <p:cNvSpPr/>
          <p:nvPr/>
        </p:nvSpPr>
        <p:spPr>
          <a:xfrm>
            <a:off x="3374136" y="1792224"/>
            <a:ext cx="240487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8C1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Year 1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3392424" y="2487168"/>
            <a:ext cx="2368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500" dirty="0">
                <a:solidFill>
                  <a:srgbClr val="706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Breakeven incl. pilot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007608" y="1645920"/>
            <a:ext cx="2679192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7DCD6"/>
            </a:solidFill>
            <a:prstDash val="solid"/>
          </a:ln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11" name="Text 9"/>
          <p:cNvSpPr/>
          <p:nvPr/>
        </p:nvSpPr>
        <p:spPr>
          <a:xfrm>
            <a:off x="6144768" y="1792224"/>
            <a:ext cx="240487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8C1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€93.5k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6163056" y="2487168"/>
            <a:ext cx="2368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500" dirty="0">
                <a:solidFill>
                  <a:srgbClr val="706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 / year — full tool</a:t>
            </a:r>
            <a:endParaRPr lang="en-US" sz="1500" dirty="0"/>
          </a:p>
        </p:txBody>
      </p:sp>
      <p:graphicFrame>
        <p:nvGraphicFramePr>
          <p:cNvPr id="13" name="Chart 0"/>
          <p:cNvGraphicFramePr/>
          <p:nvPr/>
        </p:nvGraphicFramePr>
        <p:xfrm>
          <a:off x="457200" y="3154680"/>
          <a:ext cx="8229600" cy="1325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4" name="Text 11"/>
          <p:cNvSpPr/>
          <p:nvPr/>
        </p:nvSpPr>
        <p:spPr>
          <a:xfrm>
            <a:off x="457200" y="45262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706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Full-tool value stack ≈ €106.5k/yr gross.  Estimates on industry benchmarks — validated in the pilot.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57200" y="484632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06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Maison Lumière · P2P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8412480" y="4846320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06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A88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— TOP RISKS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6000"/>
              </a:lnSpc>
              <a:buNone/>
            </a:pPr>
            <a:r>
              <a:rPr lang="en-US" sz="3300" b="1" dirty="0">
                <a:solidFill>
                  <a:srgbClr val="8C1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Structural risks — already mitigated by design</a:t>
            </a:r>
            <a:endParaRPr lang="en-US" sz="3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0536851"/>
              </p:ext>
            </p:extLst>
          </p:nvPr>
        </p:nvGraphicFramePr>
        <p:xfrm>
          <a:off x="457200" y="1645920"/>
          <a:ext cx="8229600" cy="1792224"/>
        </p:xfrm>
        <a:graphic>
          <a:graphicData uri="http://schemas.openxmlformats.org/drawingml/2006/table">
            <a:tbl>
              <a:tblPr/>
              <a:tblGrid>
                <a:gridCol w="3017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480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Risk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7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C1C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7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C1C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7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C1C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Score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7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C1C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Mitigation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7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C1C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R1 · Accuracy on real invoice mix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7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7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7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7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Human reviews every entry; threshold routing; pilot backtest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7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R2 · Vendor PII → third-party processors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7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7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7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7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EU model (Mistral) + EU-region; DPA per processor; minimisation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7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R3 · Automation bias (rubber-stamping)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7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7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7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7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Source shown; non-skippable review; spot-audits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7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40740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8C1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Manageable — </a:t>
            </a: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human-in-the-loop neutralises accuracy risk, and creates the one to watch: automation bias.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457200" y="484632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06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Maison Lumière · P2P</a:t>
            </a:r>
            <a:endParaRPr lang="en-US" sz="850" dirty="0"/>
          </a:p>
        </p:txBody>
      </p:sp>
      <p:sp>
        <p:nvSpPr>
          <p:cNvPr id="4" name="Text 4"/>
          <p:cNvSpPr/>
          <p:nvPr/>
        </p:nvSpPr>
        <p:spPr>
          <a:xfrm>
            <a:off x="8412480" y="4846320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06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A88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 SUMMARY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6000"/>
              </a:lnSpc>
              <a:buNone/>
            </a:pPr>
            <a:r>
              <a:rPr lang="en-US" sz="3300" b="1" dirty="0">
                <a:solidFill>
                  <a:srgbClr val="8C1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Deployable compliantly — limited risk, GDPR-ready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402336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7DCD6"/>
            </a:solidFill>
            <a:prstDash val="solid"/>
          </a:ln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5" name="Text 3"/>
          <p:cNvSpPr/>
          <p:nvPr/>
        </p:nvSpPr>
        <p:spPr>
          <a:xfrm>
            <a:off x="685800" y="184708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8C1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EU AI Act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685800" y="2331720"/>
            <a:ext cx="3611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spcAft>
                <a:spcPts val="800"/>
              </a:spcAft>
              <a:buNone/>
            </a:pPr>
            <a:r>
              <a:rPr lang="en-US" sz="1700" b="1" dirty="0">
                <a:solidFill>
                  <a:srgbClr val="A88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Limited risk / transparency</a:t>
            </a:r>
            <a:endParaRPr lang="en-US" sz="1700" dirty="0"/>
          </a:p>
          <a:p>
            <a:pPr marL="0" indent="0">
              <a:lnSpc>
                <a:spcPct val="102000"/>
              </a:lnSpc>
              <a:spcAft>
                <a:spcPts val="800"/>
              </a:spcAft>
              <a:buNone/>
            </a:pPr>
            <a:r>
              <a:rPr lang="en-US" sz="15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decision about people → not high-risk. AI-drafted e-mails → Article 50 disclosure. No CE / registration.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4663440" y="1691640"/>
            <a:ext cx="402336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7DCD6"/>
            </a:solidFill>
            <a:prstDash val="solid"/>
          </a:ln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8" name="Text 6"/>
          <p:cNvSpPr/>
          <p:nvPr/>
        </p:nvSpPr>
        <p:spPr>
          <a:xfrm>
            <a:off x="4892040" y="1847088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8C1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GDPR — proceed w/ conditions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4892040" y="2331720"/>
            <a:ext cx="3611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spcAft>
                <a:spcPts val="800"/>
              </a:spcAft>
              <a:buNone/>
            </a:pPr>
            <a:r>
              <a:rPr lang="en-US" sz="15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Vendor + staff data; basis: contract + legitimate interest.</a:t>
            </a:r>
            <a:endParaRPr lang="en-US" sz="1500" dirty="0"/>
          </a:p>
          <a:p>
            <a:pPr marL="0" indent="0">
              <a:lnSpc>
                <a:spcPct val="102000"/>
              </a:lnSpc>
              <a:spcAft>
                <a:spcPts val="800"/>
              </a:spcAft>
              <a:buNone/>
            </a:pPr>
            <a:r>
              <a:rPr lang="en-US" sz="15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real data: DPAs · EU-region transfers · retention · privacy notice. </a:t>
            </a:r>
          </a:p>
          <a:p>
            <a:pPr marL="0" indent="0">
              <a:lnSpc>
                <a:spcPct val="102000"/>
              </a:lnSpc>
              <a:spcAft>
                <a:spcPts val="800"/>
              </a:spcAft>
              <a:buNone/>
            </a:pPr>
            <a:r>
              <a:rPr lang="en-US" sz="15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 uses Anthropic, Live version will use Mistral.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7200" y="4206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8C1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Compliant because:  </a:t>
            </a:r>
            <a:r>
              <a:rPr lang="en-US" sz="16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human decides every entry, and personal data stays minimal and (in production) in-region.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7200" y="484632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06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Maison Lumière · P2P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8412480" y="4846320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06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A88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PLAN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6000"/>
              </a:lnSpc>
              <a:buNone/>
            </a:pPr>
            <a:r>
              <a:rPr lang="en-US" sz="3300" b="1" dirty="0">
                <a:solidFill>
                  <a:srgbClr val="8C1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POC → Pilot → Full → Scale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1874520" cy="1188720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 w="12700">
            <a:solidFill>
              <a:srgbClr val="E7DCD6"/>
            </a:solidFill>
            <a:prstDash val="solid"/>
          </a:ln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5" name="Shape 3"/>
          <p:cNvSpPr/>
          <p:nvPr/>
        </p:nvSpPr>
        <p:spPr>
          <a:xfrm>
            <a:off x="621792" y="1865376"/>
            <a:ext cx="420624" cy="420624"/>
          </a:xfrm>
          <a:prstGeom prst="ellipse">
            <a:avLst/>
          </a:prstGeom>
          <a:solidFill>
            <a:srgbClr val="8C1C2B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6" name="Text 4"/>
          <p:cNvSpPr/>
          <p:nvPr/>
        </p:nvSpPr>
        <p:spPr>
          <a:xfrm>
            <a:off x="621792" y="18653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15568" y="1865376"/>
            <a:ext cx="1143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C1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POC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2340864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tool (now)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578608" y="1691640"/>
            <a:ext cx="1874520" cy="1188720"/>
          </a:xfrm>
          <a:prstGeom prst="roundRect">
            <a:avLst>
              <a:gd name="adj" fmla="val 6923"/>
            </a:avLst>
          </a:prstGeom>
          <a:solidFill>
            <a:srgbClr val="8C1C2B"/>
          </a:solidFill>
          <a:ln w="12700">
            <a:solidFill>
              <a:srgbClr val="E7DCD6"/>
            </a:solidFill>
            <a:prstDash val="solid"/>
          </a:ln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10" name="Shape 8"/>
          <p:cNvSpPr/>
          <p:nvPr/>
        </p:nvSpPr>
        <p:spPr>
          <a:xfrm>
            <a:off x="2743200" y="1865376"/>
            <a:ext cx="420624" cy="420624"/>
          </a:xfrm>
          <a:prstGeom prst="ellipse">
            <a:avLst/>
          </a:prstGeom>
          <a:solidFill>
            <a:srgbClr val="8C1C2B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1" name="Text 9"/>
          <p:cNvSpPr/>
          <p:nvPr/>
        </p:nvSpPr>
        <p:spPr>
          <a:xfrm>
            <a:off x="2743200" y="18653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236976" y="1865376"/>
            <a:ext cx="1143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Pilot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761488" y="2340864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1200" dirty="0">
                <a:solidFill>
                  <a:srgbClr val="F4E7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wks · €20k · gate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700016" y="1691640"/>
            <a:ext cx="1874520" cy="1188720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 w="12700">
            <a:solidFill>
              <a:srgbClr val="E7DCD6"/>
            </a:solidFill>
            <a:prstDash val="solid"/>
          </a:ln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15" name="Shape 13"/>
          <p:cNvSpPr/>
          <p:nvPr/>
        </p:nvSpPr>
        <p:spPr>
          <a:xfrm>
            <a:off x="4864608" y="1865376"/>
            <a:ext cx="420624" cy="420624"/>
          </a:xfrm>
          <a:prstGeom prst="ellipse">
            <a:avLst/>
          </a:prstGeom>
          <a:solidFill>
            <a:srgbClr val="8C1C2B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6" name="Text 14"/>
          <p:cNvSpPr/>
          <p:nvPr/>
        </p:nvSpPr>
        <p:spPr>
          <a:xfrm>
            <a:off x="4864608" y="18653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358384" y="1865376"/>
            <a:ext cx="1143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C1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882896" y="2340864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vendors · e-invoicing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821424" y="1691640"/>
            <a:ext cx="1874520" cy="1188720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 w="12700">
            <a:solidFill>
              <a:srgbClr val="E7DCD6"/>
            </a:solidFill>
            <a:prstDash val="solid"/>
          </a:ln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20" name="Shape 18"/>
          <p:cNvSpPr/>
          <p:nvPr/>
        </p:nvSpPr>
        <p:spPr>
          <a:xfrm>
            <a:off x="6986016" y="1865376"/>
            <a:ext cx="420624" cy="420624"/>
          </a:xfrm>
          <a:prstGeom prst="ellipse">
            <a:avLst/>
          </a:prstGeom>
          <a:solidFill>
            <a:srgbClr val="8C1C2B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21" name="Text 19"/>
          <p:cNvSpPr/>
          <p:nvPr/>
        </p:nvSpPr>
        <p:spPr>
          <a:xfrm>
            <a:off x="6986016" y="18653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479792" y="1865376"/>
            <a:ext cx="1143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C1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004304" y="2340864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modules B/C · more hotels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30632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C1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Greenlight gate:  </a:t>
            </a:r>
            <a:r>
              <a:rPr lang="en-US" sz="16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touchless ≥ 65% &amp; accuracy ≥ 90% at real volume.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57200" y="3566160"/>
            <a:ext cx="8229600" cy="960120"/>
          </a:xfrm>
          <a:prstGeom prst="roundRect">
            <a:avLst>
              <a:gd name="adj" fmla="val 7619"/>
            </a:avLst>
          </a:prstGeom>
          <a:solidFill>
            <a:srgbClr val="F7F1EE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26" name="Text 24"/>
          <p:cNvSpPr/>
          <p:nvPr/>
        </p:nvSpPr>
        <p:spPr>
          <a:xfrm>
            <a:off x="713232" y="3694176"/>
            <a:ext cx="7726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8C1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Go-to-market.  </a:t>
            </a:r>
            <a:r>
              <a:rPr lang="en-US" sz="15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Sell direct (the pilot is the sale) → partners.  ~€20k pilot + ~€13k/yr.  A productised, EU-compliant vertical service for independent 5★ hotels.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457200" y="484632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06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Maison Lumière · P2P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8412480" y="4846320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06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A88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POC TO MVP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6000"/>
              </a:lnSpc>
              <a:buNone/>
            </a:pPr>
            <a:r>
              <a:rPr lang="en-US" sz="3300" b="1" dirty="0">
                <a:solidFill>
                  <a:srgbClr val="8C1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POC is already a working product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457200" y="1691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 mockup — a deployed app, real AI, graceful error handling.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457200" y="2331720"/>
            <a:ext cx="8229600" cy="548640"/>
          </a:xfrm>
          <a:prstGeom prst="roundRect">
            <a:avLst>
              <a:gd name="adj" fmla="val 10000"/>
            </a:avLst>
          </a:prstGeom>
          <a:solidFill>
            <a:srgbClr val="F7F1EE"/>
          </a:solidFill>
          <a:ln w="12700">
            <a:solidFill>
              <a:srgbClr val="E7DCD6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6" name="Shape 4"/>
          <p:cNvSpPr/>
          <p:nvPr/>
        </p:nvSpPr>
        <p:spPr>
          <a:xfrm>
            <a:off x="603504" y="2423160"/>
            <a:ext cx="365760" cy="365760"/>
          </a:xfrm>
          <a:prstGeom prst="ellipse">
            <a:avLst/>
          </a:prstGeom>
          <a:solidFill>
            <a:srgbClr val="8C1C2B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7" name="Text 5"/>
          <p:cNvSpPr/>
          <p:nvPr/>
        </p:nvSpPr>
        <p:spPr>
          <a:xfrm>
            <a:off x="603504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97280" y="23317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8C1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Multi-source capture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840480" y="233172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e-mail + upload, dedup, PO grouping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935224"/>
            <a:ext cx="822960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7DCD6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1" name="Shape 9"/>
          <p:cNvSpPr/>
          <p:nvPr/>
        </p:nvSpPr>
        <p:spPr>
          <a:xfrm>
            <a:off x="603504" y="3026664"/>
            <a:ext cx="365760" cy="365760"/>
          </a:xfrm>
          <a:prstGeom prst="ellipse">
            <a:avLst/>
          </a:prstGeom>
          <a:solidFill>
            <a:srgbClr val="8C1C2B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2" name="Text 10"/>
          <p:cNvSpPr/>
          <p:nvPr/>
        </p:nvSpPr>
        <p:spPr>
          <a:xfrm>
            <a:off x="603504" y="30266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097280" y="2935224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8C1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Financial logic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840480" y="2935224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 coding · quantified 3-way match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3538728"/>
            <a:ext cx="8229600" cy="548640"/>
          </a:xfrm>
          <a:prstGeom prst="roundRect">
            <a:avLst>
              <a:gd name="adj" fmla="val 10000"/>
            </a:avLst>
          </a:prstGeom>
          <a:solidFill>
            <a:srgbClr val="F7F1EE"/>
          </a:solidFill>
          <a:ln w="12700">
            <a:solidFill>
              <a:srgbClr val="E7DCD6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6" name="Shape 14"/>
          <p:cNvSpPr/>
          <p:nvPr/>
        </p:nvSpPr>
        <p:spPr>
          <a:xfrm>
            <a:off x="603504" y="3630168"/>
            <a:ext cx="365760" cy="365760"/>
          </a:xfrm>
          <a:prstGeom prst="ellipse">
            <a:avLst/>
          </a:prstGeom>
          <a:solidFill>
            <a:srgbClr val="8C1C2B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7" name="Text 15"/>
          <p:cNvSpPr/>
          <p:nvPr/>
        </p:nvSpPr>
        <p:spPr>
          <a:xfrm>
            <a:off x="603504" y="3630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097280" y="3538728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8C1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outputs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3840480" y="3538728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balanced CSV journal · dispute PDF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57200" y="4142232"/>
            <a:ext cx="822960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7DCD6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1" name="Shape 19"/>
          <p:cNvSpPr/>
          <p:nvPr/>
        </p:nvSpPr>
        <p:spPr>
          <a:xfrm>
            <a:off x="603504" y="4233672"/>
            <a:ext cx="365760" cy="365760"/>
          </a:xfrm>
          <a:prstGeom prst="ellipse">
            <a:avLst/>
          </a:prstGeom>
          <a:solidFill>
            <a:srgbClr val="8C1C2B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22" name="Text 20"/>
          <p:cNvSpPr/>
          <p:nvPr/>
        </p:nvSpPr>
        <p:spPr>
          <a:xfrm>
            <a:off x="603504" y="42336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097280" y="4142232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8C1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Deployed &amp; observable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3840480" y="4142232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Railway · persistent store · tracing (</a:t>
            </a:r>
            <a:r>
              <a:rPr lang="en-US" sz="1400" dirty="0" err="1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Langsmith</a:t>
            </a:r>
            <a:r>
              <a:rPr lang="en-US" sz="14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57200" y="484632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06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Maison Lumière · P2P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8412480" y="4846320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06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5A10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1005840"/>
            <a:ext cx="2468880" cy="2468880"/>
          </a:xfrm>
          <a:prstGeom prst="ellipse">
            <a:avLst/>
          </a:prstGeom>
          <a:solidFill>
            <a:srgbClr val="A8884F">
              <a:alpha val="20000"/>
            </a:srgbClr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3" name="Shape 1"/>
          <p:cNvSpPr/>
          <p:nvPr/>
        </p:nvSpPr>
        <p:spPr>
          <a:xfrm>
            <a:off x="8046720" y="3566160"/>
            <a:ext cx="2377440" cy="2377440"/>
          </a:xfrm>
          <a:prstGeom prst="ellipse">
            <a:avLst/>
          </a:prstGeom>
          <a:solidFill>
            <a:srgbClr val="A8884F">
              <a:alpha val="18000"/>
            </a:srgbClr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4" name="Text 2"/>
          <p:cNvSpPr/>
          <p:nvPr/>
        </p:nvSpPr>
        <p:spPr>
          <a:xfrm>
            <a:off x="640080" y="9601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A88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03504" y="1371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 a 10-week, ~€20k pilot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640080" y="246888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AD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savings, low risk, deployable compliantly.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640080" y="37033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A888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 — questions?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40080" y="4343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D8C5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next step is a 10-week pilot on your real invoices.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</TotalTime>
  <Words>1198</Words>
  <Application>Microsoft Office PowerPoint</Application>
  <PresentationFormat>On-screen Show (16:9)</PresentationFormat>
  <Paragraphs>152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Maison Lumière — P2P</dc:title>
  <dc:subject>PptxGenJS Presentation</dc:subject>
  <dc:creator>Thibaud Delaye</dc:creator>
  <cp:lastModifiedBy>Thibaud Delaye</cp:lastModifiedBy>
  <cp:revision>3</cp:revision>
  <dcterms:created xsi:type="dcterms:W3CDTF">2026-06-19T08:07:03Z</dcterms:created>
  <dcterms:modified xsi:type="dcterms:W3CDTF">2026-06-19T12:13:28Z</dcterms:modified>
</cp:coreProperties>
</file>