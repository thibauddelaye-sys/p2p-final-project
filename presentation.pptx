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€/yr</c:v>
                </c:pt>
              </c:strCache>
            </c:strRef>
          </c:tx>
          <c:spPr>
            <a:solidFill>
              <a:srgbClr val="8C1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1C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1C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88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88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1C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AP time</c:v>
                  </c:pt>
                  <c:pt idx="1">
                    <c:v>Match time</c:v>
                  </c:pt>
                  <c:pt idx="2">
                    <c:v>Match cash</c:v>
                  </c:pt>
                  <c:pt idx="3">
                    <c:v>Stock waste</c:v>
                  </c:pt>
                  <c:pt idx="4">
                    <c:v>Stock entry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42000</c:v>
                </c:pt>
                <c:pt idx="1">
                  <c:v>26000</c:v>
                </c:pt>
                <c:pt idx="2">
                  <c:v>10000</c:v>
                </c:pt>
                <c:pt idx="3">
                  <c:v>9000</c:v>
                </c:pt>
                <c:pt idx="4">
                  <c:v>19500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069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Panel: CEO (Cleo), Legal/Compliance, CTO, Operations. 30s hook. Independent luxury hotels are squeezed on margin and on talent — and a quiet manual cost, accounts payable, sits on the smallest team. This tool removes that grind with AI, a human on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vivid example (3 hrs/day). For the CEO: margin + retention at once. Numbers are cited industry benchmarks, directional.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CTO: it's an LLM doing document extraction, not a black box deciding. The human-approve box (highlighted) is the control. Diagram left to right is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app. ~2 min: one capture, one match with a discrepancy, the dispute e-mail, one CSV export. Synthetic invoices only. If it fails: play the backup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CEO: breakeven year 1 on the cautious AP scope; full tool ~€93.5k net/yr. Honesty: validated in pilot. ROI 3-yr ≈ 88% (AP) — don't read all numbers, point to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Ops + Legal. Don't read the matrix — call the three 12-scores. The mitigation column is the message: every risk has a control. Full 9-risk matrix is in roi_risk_assessment (.md + .xlsx).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Legal Officer's slide. Lead with the reasoning, not the label: WHY limited-risk (no decisions about natural persons). GDPR honest: works once DPAs + transfers handled; EU-model option de-risks further.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Ops. Pilot to full to scale; the gate is falsifiable. Commercialisation: productised vertical service, not custom consulting. Pricing anchored to the €42k+ savings.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MVP moment. The POC matured into the deployed MVP — the stretch. Show the live app briefly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call to action to Cleo. Q&amp;A prep: (1) classification reasoning — no decisions about people, so limited risk; (2) ROI €42k = ~5,040 inv times ~€8 saved, validated in pilot; (3) wrong AI output — human reviews, human liable; (4) deletion request — erasure across store/mailbox/traces; (5) why not an existing tool — vertical, EU-compliant, lean-team fit; (6) main weakness — accuracy on edge-case scans plus reliance on US sub-processors, both mitigated; (7) what I'd do differently — EU-native model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05840"/>
            <a:ext cx="2468880" cy="2468880"/>
          </a:xfrm>
          <a:prstGeom prst="ellipse">
            <a:avLst/>
          </a:prstGeom>
          <a:solidFill>
            <a:srgbClr val="A8884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931920"/>
            <a:ext cx="2286000" cy="2286000"/>
          </a:xfrm>
          <a:prstGeom prst="ellipse">
            <a:avLst/>
          </a:prstGeom>
          <a:solidFill>
            <a:srgbClr val="A8884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IRONHACK · AI CONSULTING &amp; INTEGRATION — FINAL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Maison Lumière — “P2P”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Accounts-Payable &amp; Inventory Automation · Luxury Hospitality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8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reads, humans decide.”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Delaye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 finance team, drowning in invoices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Cleo runs Maison Lumière. </a:t>
            </a:r>
            <a:pPr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accountant spends 3 hours a day keying supplier invoices by hand.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61518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33%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12648" y="33101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margin — and falling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36976" y="246888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261518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92424" y="33101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turnover / year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07608" y="246888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261518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€12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63056" y="331012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invoice, by hand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team to save money backfires — it worsens the turnover. The lever is to make their time go further.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 each invoice; a human approves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captures, reads and codes every supplier invoice — and proposes the accounting entry for a person to approve.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Capability:  </a:t>
            </a:r>
            <a:pPr indent="0" marL="0"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understanding (generative AI) + workflow automation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/ upload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153412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53412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153412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6452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849624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9624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Proposes entry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49624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+ 3-way match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12664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545836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8C1C2B"/>
          </a:solidFill>
          <a:ln w="15240">
            <a:solidFill>
              <a:srgbClr val="8C1C2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45836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45836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/ approves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08876" y="2926080"/>
            <a:ext cx="2148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242048" y="292608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42048" y="3108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42048" y="350215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dispute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posted, paid or sent without a person — “AI reads, humans decide.”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3383280"/>
            <a:ext cx="2377440" cy="2377440"/>
          </a:xfrm>
          <a:prstGeom prst="ellipse">
            <a:avLst/>
          </a:prstGeom>
          <a:solidFill>
            <a:srgbClr val="A8884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an invoice → the entry appears</a:t>
            </a:r>
            <a:endParaRPr lang="en-US" sz="21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 flags the € overbilled before payment</a:t>
            </a:r>
            <a:endParaRPr lang="en-US" sz="21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dispute · export the journal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p2p-inventory-production.up.railway.app   ·   (backup recording ready)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· ROI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Breakeven in year 1 — on the AP scope alone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9222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€42k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12648" y="2487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/ year (AP scope)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36976" y="164592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4136" y="179222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92424" y="2487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 incl. pilot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07608" y="1645920"/>
            <a:ext cx="2679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792224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€93.5k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63056" y="24871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/ year — full tool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3154680"/>
          <a:ext cx="82296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Full-tool value stack ≈ €106.5k/yr gross.  Estimates on industry benchmarks — validated in the pilot.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— TOP RISKS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risks — already mitigated by design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"/>
                <a:gridCol w="457200"/>
                <a:gridCol w="640080"/>
                <a:gridCol w="365760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C2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· Accuracy on real invoice mix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reviews every entry; threshold routing; pilot backtest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· Vendor PII → LLM / US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DPA per vendor; EU-region processing; data minimisation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· Automation bias (rubber-stamping)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shown; non-skippable review; spot-audits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· Team distrust / change resistance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“Second set of eyes”; no headcount cuts; training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R8 · AI Act / GDPR misstep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Limited-risk + DPIA + technical file; EU region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Manageable —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human-in-the-loop neutralises accuracy risk, and creates the one to watch: automation bias.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compliantly — limited risk, GDPR-ready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47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 / transparency</a:t>
            </a:r>
            <a:endParaRPr lang="en-US" sz="17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decision about people → not high-risk. AI-drafted e-mails → Article 50 disclosure. No CE / registration.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847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— proceed w/ conditions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23317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+ staff data; basis: contract + legitimate interest.</a:t>
            </a:r>
            <a:endParaRPr lang="en-US" sz="150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real data: DPAs · EU-region transfers · retention · privacy notice. Option: Mistral (EU) or Claude via EU cloud.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because: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decides every entry, and personal data stays minimal and (in production) in-region.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→ Pilot → Full → Scale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tool (now)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08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8C1C2B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36976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61488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4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wks · €20k · gate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0016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58384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82896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vendors · e-invoicing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424" y="169164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86016" y="1865376"/>
            <a:ext cx="420624" cy="420624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9792" y="18653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04304" y="234086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B/C · more hotels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Greenlight gate: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touchless ≥ 65% &amp; accuracy ≥ 90% at real volume.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1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94176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8C1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Go-to-market.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direct (the pilot is the sale) → partners.  ~€20k pilot + ~€13k/yr.  A productised, EU-compliant vertical service for independent 5★ hotels.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POC TO MVP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POC is already a working product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 — a deployed app, real AI, graceful error handling.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7F1EE"/>
          </a:solidFill>
          <a:ln w="12700">
            <a:solidFill>
              <a:srgbClr val="E7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2423160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capture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+ upload, dedup, PO grouping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3522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3026664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935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logic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935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coding · quantified 3-way match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7F1EE"/>
          </a:solidFill>
          <a:ln w="12700">
            <a:solidFill>
              <a:srgbClr val="E7DC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3630168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5387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outputs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5387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CSV journal · dispute PDF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4223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C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4233672"/>
            <a:ext cx="365760" cy="365760"/>
          </a:xfrm>
          <a:prstGeom prst="ellipse">
            <a:avLst/>
          </a:prstGeom>
          <a:solidFill>
            <a:srgbClr val="8C1C2B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142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&amp; observable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4142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· persistent store · tracing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 Lumière · P2P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06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05840"/>
            <a:ext cx="2468880" cy="2468880"/>
          </a:xfrm>
          <a:prstGeom prst="ellipse">
            <a:avLst/>
          </a:prstGeom>
          <a:solidFill>
            <a:srgbClr val="A8884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566160"/>
            <a:ext cx="2377440" cy="2377440"/>
          </a:xfrm>
          <a:prstGeom prst="ellipse">
            <a:avLst/>
          </a:prstGeom>
          <a:solidFill>
            <a:srgbClr val="A8884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88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10-week, ~€20k pilot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EAD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savings, low risk, deployable compliantly — proven on a falsifiable pilot, not a promise.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Cleo, the next step is a 10-week pilot on your real invoices.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Maison Lumière — P2P</dc:title>
  <dc:subject>PptxGenJS Presentation</dc:subject>
  <dc:creator>Thibaud Delaye</dc:creator>
  <cp:lastModifiedBy>Thibaud Delaye</cp:lastModifiedBy>
  <cp:revision>1</cp:revision>
  <dcterms:created xsi:type="dcterms:W3CDTF">2026-06-19T08:07:03Z</dcterms:created>
  <dcterms:modified xsi:type="dcterms:W3CDTF">2026-06-19T08:07:03Z</dcterms:modified>
</cp:coreProperties>
</file>